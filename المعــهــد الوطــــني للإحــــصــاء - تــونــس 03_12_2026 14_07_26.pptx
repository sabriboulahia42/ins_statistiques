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24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data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'sheet0'!$A$2:$D$2</c:f>
              <c:strCache>
                <c:ptCount val="1"/>
                <c:pt idx="0">
                  <c:v>الإيرادات بالعملة الصعبة - تونس - الوحدة</c:v>
                </c:pt>
              </c:strCache>
            </c:strRef>
          </c:tx>
          <c:spPr>
            <a:gradFill>
              <a:gsLst>
                <a:gs pos="0">
                  <a:srgbClr val="516F93"/>
                </a:gs>
                <a:gs pos="6250">
                  <a:srgbClr val="FCFDFE"/>
                </a:gs>
                <a:gs pos="16249">
                  <a:srgbClr val="506E92"/>
                </a:gs>
                <a:gs pos="78125">
                  <a:srgbClr val="C2DBFA"/>
                </a:gs>
                <a:gs pos="100000">
                  <a:srgbClr val="4F6D92"/>
                </a:gs>
              </a:gsLst>
            </a:gradFill>
            <a:ln w="3600" cap="flat">
              <a:solidFill>
                <a:srgbClr val="141B24">
                  <a:alpha val="50196"/>
                </a:srgbClr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E57-4576-B690-8B930C0BB59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57-4576-B690-8B930C0BB59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CE57-4576-B690-8B930C0BB59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E57-4576-B690-8B930C0BB59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CE57-4576-B690-8B930C0BB59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E57-4576-B690-8B930C0BB59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CE57-4576-B690-8B930C0BB59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E57-4576-B690-8B930C0BB59E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CE57-4576-B690-8B930C0BB59E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E57-4576-B690-8B930C0BB59E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CE57-4576-B690-8B930C0BB59E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CE57-4576-B690-8B930C0BB59E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CE57-4576-B690-8B930C0BB59E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CE57-4576-B690-8B930C0BB59E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CE57-4576-B690-8B930C0BB59E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CE57-4576-B690-8B930C0BB59E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CE57-4576-B690-8B930C0BB59E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CE57-4576-B690-8B930C0BB59E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CE57-4576-B690-8B930C0BB59E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CE57-4576-B690-8B930C0BB59E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4-CE57-4576-B690-8B930C0BB59E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CE57-4576-B690-8B930C0BB59E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CE57-4576-B690-8B930C0BB59E}"/>
              </c:ext>
            </c:extLst>
          </c:dPt>
          <c:dPt>
            <c:idx val="2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CE57-4576-B690-8B930C0BB59E}"/>
              </c:ext>
            </c:extLst>
          </c:dPt>
          <c:dPt>
            <c:idx val="2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8-CE57-4576-B690-8B930C0BB59E}"/>
              </c:ext>
            </c:extLst>
          </c:dPt>
          <c:dPt>
            <c:idx val="2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CE57-4576-B690-8B930C0BB59E}"/>
              </c:ext>
            </c:extLst>
          </c:dPt>
          <c:dPt>
            <c:idx val="2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A-CE57-4576-B690-8B930C0BB59E}"/>
              </c:ext>
            </c:extLst>
          </c:dPt>
          <c:dPt>
            <c:idx val="2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CE57-4576-B690-8B930C0BB59E}"/>
              </c:ext>
            </c:extLst>
          </c:dPt>
          <c:dPt>
            <c:idx val="2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CE57-4576-B690-8B930C0BB59E}"/>
              </c:ext>
            </c:extLst>
          </c:dPt>
          <c:dPt>
            <c:idx val="2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CE57-4576-B690-8B930C0BB59E}"/>
              </c:ext>
            </c:extLst>
          </c:dPt>
          <c:dPt>
            <c:idx val="3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E-CE57-4576-B690-8B930C0BB59E}"/>
              </c:ext>
            </c:extLst>
          </c:dPt>
          <c:cat>
            <c:strRef>
              <c:f>'sheet0'!$E$1:$AI$1</c:f>
              <c:strCache>
                <c:ptCount val="31"/>
                <c:pt idx="0">
                  <c:v>1994</c:v>
                </c:pt>
                <c:pt idx="1">
                  <c:v>1995</c:v>
                </c:pt>
                <c:pt idx="2">
                  <c:v>1996</c:v>
                </c:pt>
                <c:pt idx="3">
                  <c:v>1997</c:v>
                </c:pt>
                <c:pt idx="4">
                  <c:v>1998</c:v>
                </c:pt>
                <c:pt idx="5">
                  <c:v>1999</c:v>
                </c:pt>
                <c:pt idx="6">
                  <c:v>2000</c:v>
                </c:pt>
                <c:pt idx="7">
                  <c:v>2001</c:v>
                </c:pt>
                <c:pt idx="8">
                  <c:v>2002</c:v>
                </c:pt>
                <c:pt idx="9">
                  <c:v>2003</c:v>
                </c:pt>
                <c:pt idx="10">
                  <c:v>2004</c:v>
                </c:pt>
                <c:pt idx="11">
                  <c:v>2005</c:v>
                </c:pt>
                <c:pt idx="12">
                  <c:v>2006</c:v>
                </c:pt>
                <c:pt idx="13">
                  <c:v>2007</c:v>
                </c:pt>
                <c:pt idx="14">
                  <c:v>2008</c:v>
                </c:pt>
                <c:pt idx="15">
                  <c:v>2009</c:v>
                </c:pt>
                <c:pt idx="16">
                  <c:v>2010</c:v>
                </c:pt>
                <c:pt idx="17">
                  <c:v>2011</c:v>
                </c:pt>
                <c:pt idx="18">
                  <c:v>2012</c:v>
                </c:pt>
                <c:pt idx="19">
                  <c:v>2013</c:v>
                </c:pt>
                <c:pt idx="20">
                  <c:v>2014</c:v>
                </c:pt>
                <c:pt idx="21">
                  <c:v>2015</c:v>
                </c:pt>
                <c:pt idx="22">
                  <c:v>2016</c:v>
                </c:pt>
                <c:pt idx="23">
                  <c:v>2017</c:v>
                </c:pt>
                <c:pt idx="24">
                  <c:v>2018</c:v>
                </c:pt>
                <c:pt idx="25">
                  <c:v>2019</c:v>
                </c:pt>
                <c:pt idx="26">
                  <c:v>2020</c:v>
                </c:pt>
                <c:pt idx="27">
                  <c:v>2021</c:v>
                </c:pt>
                <c:pt idx="28">
                  <c:v>2022</c:v>
                </c:pt>
                <c:pt idx="29">
                  <c:v>2023</c:v>
                </c:pt>
                <c:pt idx="30">
                  <c:v>2024</c:v>
                </c:pt>
              </c:strCache>
            </c:strRef>
          </c:cat>
          <c:val>
            <c:numRef>
              <c:f>'sheet0'!$E$2:$AI$2</c:f>
              <c:numCache>
                <c:formatCode>General</c:formatCode>
                <c:ptCount val="31"/>
                <c:pt idx="0">
                  <c:v>1317</c:v>
                </c:pt>
                <c:pt idx="1">
                  <c:v>1322.9</c:v>
                </c:pt>
                <c:pt idx="2">
                  <c:v>1411</c:v>
                </c:pt>
                <c:pt idx="3">
                  <c:v>1565.3</c:v>
                </c:pt>
                <c:pt idx="4">
                  <c:v>1712.8</c:v>
                </c:pt>
                <c:pt idx="5">
                  <c:v>1954.3</c:v>
                </c:pt>
                <c:pt idx="6">
                  <c:v>2095.1</c:v>
                </c:pt>
                <c:pt idx="7">
                  <c:v>2340</c:v>
                </c:pt>
                <c:pt idx="8">
                  <c:v>2021</c:v>
                </c:pt>
                <c:pt idx="9">
                  <c:v>1902.9</c:v>
                </c:pt>
                <c:pt idx="10">
                  <c:v>2290</c:v>
                </c:pt>
                <c:pt idx="11">
                  <c:v>2611</c:v>
                </c:pt>
                <c:pt idx="12">
                  <c:v>2825.2</c:v>
                </c:pt>
                <c:pt idx="13">
                  <c:v>3077.3</c:v>
                </c:pt>
                <c:pt idx="14">
                  <c:v>3390.2</c:v>
                </c:pt>
                <c:pt idx="15">
                  <c:v>3471.9</c:v>
                </c:pt>
                <c:pt idx="16">
                  <c:v>3522.5</c:v>
                </c:pt>
                <c:pt idx="17">
                  <c:v>2432.6</c:v>
                </c:pt>
                <c:pt idx="18">
                  <c:v>3175.3</c:v>
                </c:pt>
                <c:pt idx="19">
                  <c:v>3221.4</c:v>
                </c:pt>
                <c:pt idx="20">
                  <c:v>3625.6</c:v>
                </c:pt>
                <c:pt idx="21">
                  <c:v>2414.6999999999998</c:v>
                </c:pt>
                <c:pt idx="22">
                  <c:v>2373.4</c:v>
                </c:pt>
                <c:pt idx="23">
                  <c:v>2831</c:v>
                </c:pt>
                <c:pt idx="24">
                  <c:v>4141.2</c:v>
                </c:pt>
                <c:pt idx="25">
                  <c:v>6646.7</c:v>
                </c:pt>
                <c:pt idx="26">
                  <c:v>2439.4</c:v>
                </c:pt>
                <c:pt idx="27">
                  <c:v>2954.2</c:v>
                </c:pt>
                <c:pt idx="28">
                  <c:v>5420.1</c:v>
                </c:pt>
                <c:pt idx="29">
                  <c:v>6920.6</c:v>
                </c:pt>
                <c:pt idx="30">
                  <c:v>7600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CE57-4576-B690-8B930C0BB5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85810815"/>
        <c:axId val="1"/>
      </c:barChart>
      <c:catAx>
        <c:axId val="1585810815"/>
        <c:scaling>
          <c:orientation val="maxMin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low"/>
        <c:spPr>
          <a:noFill/>
          <a:ln w="3600" cap="flat">
            <a:solidFill>
              <a:srgbClr val="808080"/>
            </a:solidFill>
            <a:miter lim="10000"/>
          </a:ln>
        </c:spPr>
        <c:txPr>
          <a:bodyPr rot="-5400000"/>
          <a:lstStyle/>
          <a:p>
            <a:pPr>
              <a:defRPr sz="709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"/>
        <c:crosses val="autoZero"/>
        <c:auto val="0"/>
        <c:lblAlgn val="ctr"/>
        <c:lblOffset val="100"/>
        <c:tickMarkSkip val="1"/>
        <c:noMultiLvlLbl val="1"/>
      </c:catAx>
      <c:valAx>
        <c:axId val="1"/>
        <c:scaling>
          <c:orientation val="minMax"/>
        </c:scaling>
        <c:delete val="0"/>
        <c:axPos val="r"/>
        <c:majorGridlines>
          <c:spPr>
            <a:ln w="9000" cap="flat">
              <a:solidFill>
                <a:srgbClr val="808080"/>
              </a:solidFill>
              <a:miter lim="10000"/>
            </a:ln>
          </c:spPr>
        </c:majorGridlines>
        <c:numFmt formatCode="#,##0.0" sourceLinked="0"/>
        <c:majorTickMark val="cross"/>
        <c:minorTickMark val="none"/>
        <c:tickLblPos val="low"/>
        <c:spPr>
          <a:noFill/>
          <a:ln w="3600" cap="flat">
            <a:solidFill>
              <a:srgbClr val="808080"/>
            </a:solidFill>
            <a:miter lim="10000"/>
          </a:ln>
        </c:spPr>
        <c:txPr>
          <a:bodyPr rot="0"/>
          <a:lstStyle/>
          <a:p>
            <a:pPr>
              <a:defRPr sz="709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585810815"/>
        <c:crosses val="autoZero"/>
        <c:crossBetween val="between"/>
      </c:valAx>
      <c:spPr>
        <a:solidFill>
          <a:srgbClr val="E6E6E6"/>
        </a:solidFill>
        <a:ln w="9000" cap="flat">
          <a:solidFill>
            <a:srgbClr val="808080"/>
          </a:solidFill>
          <a:miter lim="10000"/>
        </a:ln>
      </c:spPr>
    </c:plotArea>
    <c:legend>
      <c:legendPos val="b"/>
      <c:overlay val="0"/>
      <c:spPr>
        <a:noFill/>
        <a:ln>
          <a:noFill/>
        </a:ln>
      </c:spPr>
      <c:txPr>
        <a:bodyPr rot="0"/>
        <a:lstStyle/>
        <a:p>
          <a:pPr>
            <a:defRPr sz="709">
              <a:solidFill>
                <a:srgbClr val="000000"/>
              </a:solidFill>
              <a:latin typeface="Arial"/>
            </a:defRPr>
          </a:pPr>
          <a:endParaRPr lang="en-US"/>
        </a:p>
      </c:txPr>
    </c:legend>
    <c:plotVisOnly val="0"/>
    <c:dispBlanksAs val="gap"/>
    <c:showDLblsOverMax val="0"/>
  </c:chart>
  <c:spPr>
    <a:solidFill>
      <a:srgbClr val="FFFFFF"/>
    </a:solidFill>
    <a:ln w="9000" cap="flat">
      <a:solidFill>
        <a:srgbClr val="808080">
          <a:alpha val="0"/>
        </a:srgbClr>
      </a:solidFill>
      <a:miter lim="10000"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جدول 1"/>
          <p:cNvGraphicFramePr/>
          <p:nvPr/>
        </p:nvGraphicFramePr>
        <p:xfrm>
          <a:off x="995120" y="1440000"/>
          <a:ext cx="5484880" cy="865863"/>
        </p:xfrm>
        <a:graphic>
          <a:graphicData uri="http://schemas.openxmlformats.org/drawingml/2006/table">
            <a:tbl>
              <a:tblPr rtl="1"/>
              <a:tblGrid>
                <a:gridCol w="43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03983">
                <a:tc gridSpan="4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 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1994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BBBBBB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1995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1996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1997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1998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1999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2000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2001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989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الإيرادات بالعملة الصعبة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noFill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مليون دينار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تونس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الوحدة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1,317.0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BBBBBB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1,322.9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1,411.0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1,565.3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1,712.8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1,954.3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2,095.1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2,340.0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جدول 3"/>
          <p:cNvGraphicFramePr/>
          <p:nvPr>
            <p:extLst>
              <p:ext uri="{D42A27DB-BD31-4B8C-83A1-F6EECF244321}">
                <p14:modId xmlns:p14="http://schemas.microsoft.com/office/powerpoint/2010/main" val="3513600425"/>
              </p:ext>
            </p:extLst>
          </p:nvPr>
        </p:nvGraphicFramePr>
        <p:xfrm>
          <a:off x="995120" y="2319803"/>
          <a:ext cx="5484880" cy="865863"/>
        </p:xfrm>
        <a:graphic>
          <a:graphicData uri="http://schemas.openxmlformats.org/drawingml/2006/table">
            <a:tbl>
              <a:tblPr rtl="1"/>
              <a:tblGrid>
                <a:gridCol w="43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03983">
                <a:tc gridSpan="4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7C6A37"/>
                          </a:solidFill>
                          <a:latin typeface="Arial"/>
                        </a:rPr>
                        <a:t> </a:t>
                      </a:r>
                      <a:endParaRPr sz="1000" dirty="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2002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2003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2004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2005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2006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2007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2008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2009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989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الإيرادات بالعملة الصعبة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noFill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مليون دينار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تونس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الوحدة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2,021.0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1,902.9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2,290.0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2,611.0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2,825.2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3,077.3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3,390.2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333333"/>
                          </a:solidFill>
                          <a:latin typeface="Arial"/>
                        </a:rPr>
                        <a:t>3,471.9</a:t>
                      </a:r>
                      <a:endParaRPr sz="900" dirty="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جدول 4"/>
          <p:cNvGraphicFramePr/>
          <p:nvPr>
            <p:extLst>
              <p:ext uri="{D42A27DB-BD31-4B8C-83A1-F6EECF244321}">
                <p14:modId xmlns:p14="http://schemas.microsoft.com/office/powerpoint/2010/main" val="1145095060"/>
              </p:ext>
            </p:extLst>
          </p:nvPr>
        </p:nvGraphicFramePr>
        <p:xfrm>
          <a:off x="995120" y="3183899"/>
          <a:ext cx="5484880" cy="865863"/>
        </p:xfrm>
        <a:graphic>
          <a:graphicData uri="http://schemas.openxmlformats.org/drawingml/2006/table">
            <a:tbl>
              <a:tblPr rtl="1"/>
              <a:tblGrid>
                <a:gridCol w="43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03983">
                <a:tc gridSpan="4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7C6A37"/>
                          </a:solidFill>
                          <a:latin typeface="Arial"/>
                        </a:rPr>
                        <a:t> </a:t>
                      </a:r>
                      <a:endParaRPr sz="1000" dirty="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2010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2011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2012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2013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2014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2015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2016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2017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989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الإيرادات بالعملة الصعبة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noFill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مليون دينار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تونس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الوحدة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3,522.5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2,432.6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3,175.3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3,221.4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3,625.6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2,414.7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2,373.4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333333"/>
                          </a:solidFill>
                          <a:latin typeface="Arial"/>
                        </a:rPr>
                        <a:t>2,831.0</a:t>
                      </a:r>
                      <a:endParaRPr sz="900" dirty="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جدول 5"/>
          <p:cNvGraphicFramePr/>
          <p:nvPr>
            <p:extLst>
              <p:ext uri="{D42A27DB-BD31-4B8C-83A1-F6EECF244321}">
                <p14:modId xmlns:p14="http://schemas.microsoft.com/office/powerpoint/2010/main" val="65242362"/>
              </p:ext>
            </p:extLst>
          </p:nvPr>
        </p:nvGraphicFramePr>
        <p:xfrm>
          <a:off x="1476359" y="4049762"/>
          <a:ext cx="5003641" cy="865863"/>
        </p:xfrm>
        <a:graphic>
          <a:graphicData uri="http://schemas.openxmlformats.org/drawingml/2006/table">
            <a:tbl>
              <a:tblPr rtl="1"/>
              <a:tblGrid>
                <a:gridCol w="43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12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03983">
                <a:tc gridSpan="4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 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2018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2019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2020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2021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2022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2023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6A37"/>
                          </a:solidFill>
                          <a:latin typeface="Arial"/>
                        </a:rPr>
                        <a:t>2024</a:t>
                      </a:r>
                      <a:endParaRPr sz="10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CECCC8"/>
                      </a:solidFill>
                    </a:lnT>
                    <a:lnB>
                      <a:solidFill>
                        <a:srgbClr val="BBBBBB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989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الإيرادات بالعملة الصعبة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noFill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مليون دينار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تونس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الوحدة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BBBBBB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4,141.2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6,646.7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2,439.4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2,954.2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5,420.1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6,920.6</a:t>
                      </a:r>
                      <a:endParaRPr sz="90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333333"/>
                          </a:solidFill>
                          <a:latin typeface="Arial"/>
                        </a:rPr>
                        <a:t>7,600.0</a:t>
                      </a:r>
                      <a:endParaRPr sz="900" dirty="0">
                        <a:latin typeface="Arial"/>
                      </a:endParaRPr>
                    </a:p>
                  </a:txBody>
                  <a:tcPr marL="25200" marR="25200" marT="25200" marB="25200" anchor="ctr">
                    <a:lnL>
                      <a:solidFill>
                        <a:srgbClr val="CECCC8"/>
                      </a:solidFill>
                    </a:lnL>
                    <a:lnR>
                      <a:solidFill>
                        <a:srgbClr val="CECCC8"/>
                      </a:solidFill>
                    </a:lnR>
                    <a:lnT>
                      <a:solidFill>
                        <a:srgbClr val="BBBBBB"/>
                      </a:solidFill>
                    </a:lnT>
                    <a:lnB>
                      <a:solidFill>
                        <a:srgbClr val="CECCC8"/>
                      </a:solidFill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مخطط 6"/>
          <p:cNvGraphicFramePr/>
          <p:nvPr>
            <p:extLst>
              <p:ext uri="{D42A27DB-BD31-4B8C-83A1-F6EECF244321}">
                <p14:modId xmlns:p14="http://schemas.microsoft.com/office/powerpoint/2010/main" val="2413049083"/>
              </p:ext>
            </p:extLst>
          </p:nvPr>
        </p:nvGraphicFramePr>
        <p:xfrm>
          <a:off x="900157" y="5058354"/>
          <a:ext cx="576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مربع نص 7">
            <a:extLst>
              <a:ext uri="{FF2B5EF4-FFF2-40B4-BE49-F238E27FC236}">
                <a16:creationId xmlns:a16="http://schemas.microsoft.com/office/drawing/2014/main" id="{3EDBABEA-8EE6-39FF-243E-19F1BF6CD6F0}"/>
              </a:ext>
            </a:extLst>
          </p:cNvPr>
          <p:cNvSpPr txBox="1"/>
          <p:nvPr/>
        </p:nvSpPr>
        <p:spPr>
          <a:xfrm>
            <a:off x="467469" y="521370"/>
            <a:ext cx="6480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3200" dirty="0"/>
              <a:t>العائدات السياحية بالبلاد التونسية بالعملة الصعبة: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>
            <a:fillOverlay blend="over">
              <a:noFill/>
            </a:fillOverlay>
          </a:effectLst>
        </a:effectStyle>
        <a:effectStyle>
          <a:effectLst>
            <a:fillOverlay blend="over">
              <a:noFill/>
            </a:fillOverlay>
          </a:effectLst>
        </a:effectStyle>
        <a:effectStyle>
          <a:effectLst>
            <a:fillOverlay blend="over">
              <a:noFill/>
            </a:fillOverlay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مخصص</PresentationFormat>
  <Paragraphs>83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Sabri Boulahia</cp:lastModifiedBy>
  <cp:revision>2</cp:revision>
  <dcterms:modified xsi:type="dcterms:W3CDTF">2026-03-12T11:13:10Z</dcterms:modified>
</cp:coreProperties>
</file>